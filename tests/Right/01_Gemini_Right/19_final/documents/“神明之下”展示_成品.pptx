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3"/>
    <p:sldId id="257" r:id="rId4"/>
    <p:sldId id="263" r:id="rId5"/>
    <p:sldId id="259" r:id="rId6"/>
    <p:sldId id="258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511"/>
    <a:srgbClr val="FDC510"/>
    <a:srgbClr val="E3B73C"/>
    <a:srgbClr val="B17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tags" Target="../tags/tag5.x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33.xml"/><Relationship Id="rId4" Type="http://schemas.openxmlformats.org/officeDocument/2006/relationships/image" Target="../media/image10.png"/><Relationship Id="rId39" Type="http://schemas.openxmlformats.org/officeDocument/2006/relationships/tags" Target="../tags/tag32.xml"/><Relationship Id="rId38" Type="http://schemas.openxmlformats.org/officeDocument/2006/relationships/tags" Target="../tags/tag31.xml"/><Relationship Id="rId37" Type="http://schemas.openxmlformats.org/officeDocument/2006/relationships/tags" Target="../tags/tag30.xml"/><Relationship Id="rId36" Type="http://schemas.openxmlformats.org/officeDocument/2006/relationships/tags" Target="../tags/tag29.xml"/><Relationship Id="rId35" Type="http://schemas.openxmlformats.org/officeDocument/2006/relationships/tags" Target="../tags/tag28.xml"/><Relationship Id="rId34" Type="http://schemas.openxmlformats.org/officeDocument/2006/relationships/tags" Target="../tags/tag27.xml"/><Relationship Id="rId33" Type="http://schemas.openxmlformats.org/officeDocument/2006/relationships/tags" Target="../tags/tag26.xml"/><Relationship Id="rId32" Type="http://schemas.openxmlformats.org/officeDocument/2006/relationships/tags" Target="../tags/tag25.xml"/><Relationship Id="rId31" Type="http://schemas.openxmlformats.org/officeDocument/2006/relationships/tags" Target="../tags/tag24.xml"/><Relationship Id="rId30" Type="http://schemas.openxmlformats.org/officeDocument/2006/relationships/image" Target="../media/image16.png"/><Relationship Id="rId3" Type="http://schemas.openxmlformats.org/officeDocument/2006/relationships/tags" Target="../tags/tag4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image" Target="../media/image15.png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14.png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9.png"/><Relationship Id="rId19" Type="http://schemas.openxmlformats.org/officeDocument/2006/relationships/image" Target="../media/image13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image" Target="../media/image12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11.png"/><Relationship Id="rId10" Type="http://schemas.openxmlformats.org/officeDocument/2006/relationships/tags" Target="../tags/tag9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1" Type="http://schemas.openxmlformats.org/officeDocument/2006/relationships/slideLayout" Target="../slideLayouts/slideLayout2.xml"/><Relationship Id="rId10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/>
          <p:nvPr>
            <p:ph type="body" idx="15"/>
            <p:custDataLst>
              <p:tags r:id="rId2"/>
            </p:custDataLst>
          </p:nvPr>
        </p:nvSpPr>
        <p:spPr>
          <a:xfrm>
            <a:off x="3148330" y="5259705"/>
            <a:ext cx="5701665" cy="457200"/>
          </a:xfrm>
        </p:spPr>
        <p:txBody>
          <a:bodyPr>
            <a:noAutofit/>
          </a:bodyPr>
          <a:p>
            <a:pPr algn="ctr"/>
            <a:r>
              <a:rPr lang="zh-CN" altLang="en-US" sz="2700">
                <a:solidFill>
                  <a:srgbClr val="FFC000"/>
                </a:solidFill>
              </a:rPr>
              <a:t>创作者：内蒙古艺术学院</a:t>
            </a:r>
            <a:r>
              <a:rPr lang="en-US" altLang="zh-CN" sz="2700">
                <a:solidFill>
                  <a:srgbClr val="FFC000"/>
                </a:solidFill>
              </a:rPr>
              <a:t> - </a:t>
            </a:r>
            <a:r>
              <a:rPr lang="zh-CN" altLang="en-US" sz="2700">
                <a:solidFill>
                  <a:srgbClr val="FFC000"/>
                </a:solidFill>
              </a:rPr>
              <a:t>刘汉林</a:t>
            </a:r>
            <a:endParaRPr lang="zh-CN" altLang="en-US" sz="2700">
              <a:solidFill>
                <a:srgbClr val="FFC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43860" y="1193800"/>
            <a:ext cx="6304280" cy="34766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12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神明之下</a:t>
            </a:r>
            <a:endParaRPr lang="zh-CN" altLang="en-US" sz="12000" b="1">
              <a:ln w="13462">
                <a:solidFill>
                  <a:schemeClr val="bg1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endParaRPr lang="zh-CN" altLang="en-US" sz="2800" b="1">
              <a:ln w="13462">
                <a:solidFill>
                  <a:schemeClr val="bg1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ctr"/>
            <a:r>
              <a:rPr lang="zh-CN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游戏展示</a:t>
            </a:r>
            <a:endParaRPr lang="zh-CN" altLang="en-US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2000" y="27940"/>
            <a:ext cx="1674495" cy="672465"/>
          </a:xfrm>
          <a:prstGeom prst="rect">
            <a:avLst/>
          </a:prstGeom>
          <a:solidFill>
            <a:srgbClr val="010514"/>
          </a:solidFill>
          <a:ln>
            <a:solidFill>
              <a:srgbClr val="00051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9172575" y="2893060"/>
            <a:ext cx="3996690" cy="206756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-982980" y="3023870"/>
            <a:ext cx="3996690" cy="1987550"/>
          </a:xfrm>
          <a:prstGeom prst="rect">
            <a:avLst/>
          </a:prstGeom>
        </p:spPr>
      </p:pic>
      <p:pic>
        <p:nvPicPr>
          <p:cNvPr id="5" name="图片 4" descr="玩家基本面板"/>
          <p:cNvPicPr>
            <a:picLocks noChangeAspect="1"/>
          </p:cNvPicPr>
          <p:nvPr/>
        </p:nvPicPr>
        <p:blipFill>
          <a:blip r:embed="rId2"/>
          <a:srcRect t="153" b="153"/>
          <a:stretch>
            <a:fillRect/>
          </a:stretch>
        </p:blipFill>
        <p:spPr>
          <a:xfrm>
            <a:off x="4072255" y="4981575"/>
            <a:ext cx="4156075" cy="1876425"/>
          </a:xfrm>
          <a:prstGeom prst="rect">
            <a:avLst/>
          </a:prstGeom>
        </p:spPr>
      </p:pic>
      <p:pic>
        <p:nvPicPr>
          <p:cNvPr id="9" name="图片 8" descr="玩家基本面板"/>
          <p:cNvPicPr>
            <a:picLocks noChangeAspect="1"/>
          </p:cNvPicPr>
          <p:nvPr/>
        </p:nvPicPr>
        <p:blipFill>
          <a:blip r:embed="rId2"/>
          <a:srcRect t="2636" b="2636"/>
          <a:stretch>
            <a:fillRect/>
          </a:stretch>
        </p:blipFill>
        <p:spPr>
          <a:xfrm rot="10800000">
            <a:off x="4072255" y="0"/>
            <a:ext cx="4156075" cy="17830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072890" y="2475865"/>
            <a:ext cx="4046855" cy="2019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13325" y="3021965"/>
            <a:ext cx="2165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弃牌堆</a:t>
            </a:r>
            <a:endParaRPr lang="zh-CN" altLang="en-US" sz="4800"/>
          </a:p>
        </p:txBody>
      </p:sp>
      <p:sp>
        <p:nvSpPr>
          <p:cNvPr id="13" name="矩形 12"/>
          <p:cNvSpPr/>
          <p:nvPr/>
        </p:nvSpPr>
        <p:spPr>
          <a:xfrm>
            <a:off x="21590" y="22225"/>
            <a:ext cx="3440430" cy="15405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744585" y="22225"/>
            <a:ext cx="3440430" cy="15405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4660" y="40830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基本牌堆</a:t>
            </a:r>
            <a:endParaRPr lang="zh-CN" altLang="en-US" sz="4400"/>
          </a:p>
        </p:txBody>
      </p:sp>
      <p:sp>
        <p:nvSpPr>
          <p:cNvPr id="16" name="文本框 15"/>
          <p:cNvSpPr txBox="1"/>
          <p:nvPr/>
        </p:nvSpPr>
        <p:spPr>
          <a:xfrm>
            <a:off x="9177655" y="40830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灵界牌堆</a:t>
            </a:r>
            <a:endParaRPr lang="zh-CN" altLang="en-US" sz="4400"/>
          </a:p>
        </p:txBody>
      </p:sp>
      <p:sp>
        <p:nvSpPr>
          <p:cNvPr id="17" name="文本框 16"/>
          <p:cNvSpPr txBox="1"/>
          <p:nvPr/>
        </p:nvSpPr>
        <p:spPr>
          <a:xfrm>
            <a:off x="7145655" y="5090795"/>
            <a:ext cx="86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11935" y="4776470"/>
            <a:ext cx="459740" cy="5829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4010" y="5217795"/>
            <a:ext cx="31750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D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17150" y="20599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家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 B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12590" y="1373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C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035" y="4667885"/>
            <a:ext cx="254635" cy="250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505" y="2127885"/>
            <a:ext cx="254635" cy="250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40" y="1877060"/>
            <a:ext cx="254635" cy="250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35" y="4730750"/>
            <a:ext cx="254635" cy="2508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07325" y="460946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4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32010" y="247586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4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80255" y="181864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4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118995" y="505269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4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110355" y="4637405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064000" y="4637405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黑方教皇</a:t>
            </a:r>
            <a:endParaRPr lang="zh-CN" altLang="en-US" sz="1400"/>
          </a:p>
        </p:txBody>
      </p:sp>
      <p:sp>
        <p:nvSpPr>
          <p:cNvPr id="27" name="矩形 26"/>
          <p:cNvSpPr/>
          <p:nvPr/>
        </p:nvSpPr>
        <p:spPr>
          <a:xfrm>
            <a:off x="7374255" y="1874520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327900" y="1874520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黄方教皇</a:t>
            </a:r>
            <a:endParaRPr lang="zh-CN" altLang="en-US" sz="1400"/>
          </a:p>
        </p:txBody>
      </p:sp>
      <p:sp>
        <p:nvSpPr>
          <p:cNvPr id="31" name="矩形 30"/>
          <p:cNvSpPr/>
          <p:nvPr/>
        </p:nvSpPr>
        <p:spPr>
          <a:xfrm>
            <a:off x="2138680" y="2019300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080895" y="2059940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黄方信徒</a:t>
            </a:r>
            <a:endParaRPr lang="zh-CN" altLang="en-US" sz="1400"/>
          </a:p>
        </p:txBody>
      </p:sp>
      <p:sp>
        <p:nvSpPr>
          <p:cNvPr id="33" name="矩形 32"/>
          <p:cNvSpPr/>
          <p:nvPr/>
        </p:nvSpPr>
        <p:spPr>
          <a:xfrm>
            <a:off x="9669780" y="5083175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611995" y="5123815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黑方信徒</a:t>
            </a:r>
            <a:endParaRPr lang="zh-CN" altLang="en-US" sz="1400"/>
          </a:p>
        </p:txBody>
      </p:sp>
      <p:sp>
        <p:nvSpPr>
          <p:cNvPr id="35" name="矩形 34"/>
          <p:cNvSpPr/>
          <p:nvPr/>
        </p:nvSpPr>
        <p:spPr>
          <a:xfrm>
            <a:off x="4776470" y="3037840"/>
            <a:ext cx="2638425" cy="6470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分配身份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90445" y="2557780"/>
            <a:ext cx="7802880" cy="1938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60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除黑方教皇亮明身份外</a:t>
            </a:r>
            <a:endParaRPr lang="zh-CN" altLang="en-US" sz="60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  <a:p>
            <a:pPr algn="ctr"/>
            <a:r>
              <a:rPr lang="zh-CN" altLang="en-US" sz="60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其他身份互相不可见</a:t>
            </a:r>
            <a:endParaRPr lang="zh-CN" altLang="en-US" sz="60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38" name="图片 37" descr="1074107410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804160" y="4585970"/>
            <a:ext cx="1259840" cy="52578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3084830" y="4643755"/>
            <a:ext cx="668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血量</a:t>
            </a:r>
            <a:endParaRPr lang="zh-CN" altLang="en-US">
              <a:solidFill>
                <a:schemeClr val="accent4"/>
              </a:solidFill>
            </a:endParaRPr>
          </a:p>
        </p:txBody>
      </p:sp>
      <p:pic>
        <p:nvPicPr>
          <p:cNvPr id="40" name="图片 39" descr="1074107410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804160" y="4876800"/>
            <a:ext cx="1259840" cy="52578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029585" y="4934585"/>
            <a:ext cx="84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/>
                </a:solidFill>
              </a:rPr>
              <a:t>san</a:t>
            </a:r>
            <a:r>
              <a:rPr lang="zh-CN" altLang="en-US">
                <a:solidFill>
                  <a:schemeClr val="accent4"/>
                </a:solidFill>
              </a:rPr>
              <a:t>值</a:t>
            </a:r>
            <a:endParaRPr lang="zh-CN" altLang="en-US">
              <a:solidFill>
                <a:schemeClr val="accent4"/>
              </a:solidFill>
            </a:endParaRPr>
          </a:p>
        </p:txBody>
      </p:sp>
      <p:pic>
        <p:nvPicPr>
          <p:cNvPr id="42" name="图片 41" descr="1074107410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700655" y="5742940"/>
            <a:ext cx="1363345" cy="56896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3030220" y="5857240"/>
            <a:ext cx="723265" cy="354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accent4"/>
                </a:solidFill>
              </a:rPr>
              <a:t>手牌</a:t>
            </a:r>
            <a:endParaRPr lang="zh-CN" altLang="en-US">
              <a:solidFill>
                <a:schemeClr val="accent4"/>
              </a:solidFill>
            </a:endParaRPr>
          </a:p>
        </p:txBody>
      </p:sp>
      <p:pic>
        <p:nvPicPr>
          <p:cNvPr id="44" name="图片 43" descr="1074107410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2060" y="5420360"/>
            <a:ext cx="1893570" cy="79057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 flipH="1">
            <a:off x="8011795" y="5600700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装备格子</a:t>
            </a:r>
            <a:endParaRPr lang="zh-CN" alt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6" presetClass="exit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1000" fill="hold"/>
                                        <p:tgtEl>
                                          <p:spTgt spid="35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9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  <p:bldP spid="25" grpId="0" animBg="1"/>
      <p:bldP spid="26" grpId="0"/>
      <p:bldP spid="25" grpId="1" animBg="1"/>
      <p:bldP spid="26" grpId="1"/>
      <p:bldP spid="33" grpId="0" animBg="1"/>
      <p:bldP spid="34" grpId="0"/>
      <p:bldP spid="33" grpId="1" animBg="1"/>
      <p:bldP spid="34" grpId="1"/>
      <p:bldP spid="27" grpId="0" animBg="1"/>
      <p:bldP spid="28" grpId="0"/>
      <p:bldP spid="27" grpId="1" animBg="1"/>
      <p:bldP spid="28" grpId="1"/>
      <p:bldP spid="31" grpId="0" animBg="1"/>
      <p:bldP spid="32" grpId="0"/>
      <p:bldP spid="31" grpId="1" animBg="1"/>
      <p:bldP spid="32" grpId="1"/>
      <p:bldP spid="36" grpId="0"/>
      <p:bldP spid="36" grpId="1"/>
      <p:bldP spid="36" grpId="2"/>
      <p:bldP spid="39" grpId="0"/>
      <p:bldP spid="41" grpId="0"/>
      <p:bldP spid="43" grpId="0"/>
      <p:bldP spid="39" grpId="1"/>
      <p:bldP spid="41" grpId="1"/>
      <p:bldP spid="43" grpId="1"/>
      <p:bldP spid="45" grpId="0"/>
      <p:bldP spid="45" grpId="1"/>
      <p:bldP spid="39" grpId="2"/>
      <p:bldP spid="41" grpId="2"/>
      <p:bldP spid="43" grpId="2"/>
      <p:bldP spid="45" grpId="2"/>
      <p:bldP spid="35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94560" y="2829560"/>
            <a:ext cx="7802880" cy="16300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10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进入商店阶段</a:t>
            </a:r>
            <a:endParaRPr lang="zh-CN" altLang="en-US" sz="10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3725" y="1313180"/>
            <a:ext cx="1880235" cy="22078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75255" y="55880"/>
            <a:ext cx="387477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商</a:t>
            </a:r>
            <a:r>
              <a:rPr lang="en-US" altLang="zh-CN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	         </a:t>
            </a:r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店</a:t>
            </a:r>
            <a:endParaRPr lang="zh-CN" altLang="en-US" sz="7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20340" y="1303655"/>
            <a:ext cx="1916430" cy="2218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75385" y="3628390"/>
            <a:ext cx="254635" cy="2508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463675" y="356997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1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26460" y="3618865"/>
            <a:ext cx="254635" cy="25082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3714750" y="356044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1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67" b="67"/>
          <a:stretch>
            <a:fillRect/>
          </a:stretch>
        </p:blipFill>
        <p:spPr>
          <a:xfrm>
            <a:off x="4883150" y="1303655"/>
            <a:ext cx="1908810" cy="22174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20385" y="3599180"/>
            <a:ext cx="254635" cy="25082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5908675" y="354076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4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760" r="1760"/>
          <a:stretch>
            <a:fillRect/>
          </a:stretch>
        </p:blipFill>
        <p:spPr>
          <a:xfrm>
            <a:off x="7038340" y="1283970"/>
            <a:ext cx="1856105" cy="2237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55255" y="3657600"/>
            <a:ext cx="254635" cy="25082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8043545" y="359918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1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53720" y="3996690"/>
            <a:ext cx="1942465" cy="2260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0455" y="6374130"/>
            <a:ext cx="254635" cy="25082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88745" y="631571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2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2720340" y="4000500"/>
            <a:ext cx="1915795" cy="23152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7245" y="6374130"/>
            <a:ext cx="254635" cy="2508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5"/>
            </p:custDataLst>
          </p:nvPr>
        </p:nvSpPr>
        <p:spPr>
          <a:xfrm>
            <a:off x="3645535" y="631571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3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919345" y="3996690"/>
            <a:ext cx="1923415" cy="230314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84825" y="6432550"/>
            <a:ext cx="254635" cy="25082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5873115" y="637413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1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38340" y="3966845"/>
            <a:ext cx="1856105" cy="23488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55255" y="6432550"/>
            <a:ext cx="254635" cy="25082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8043545" y="637413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1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5220" y="819150"/>
            <a:ext cx="1743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00B050"/>
                </a:solidFill>
              </a:rPr>
              <a:t>玩家</a:t>
            </a:r>
            <a:r>
              <a:rPr lang="en-US" altLang="zh-CN" sz="3600">
                <a:solidFill>
                  <a:srgbClr val="00B050"/>
                </a:solidFill>
              </a:rPr>
              <a:t>A</a:t>
            </a:r>
            <a:endParaRPr lang="en-US" altLang="zh-CN" sz="3600">
              <a:solidFill>
                <a:srgbClr val="00B05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015220" y="2129155"/>
            <a:ext cx="1743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00B050"/>
                </a:solidFill>
              </a:rPr>
              <a:t>玩家</a:t>
            </a:r>
            <a:r>
              <a:rPr lang="en-US" altLang="zh-CN" sz="3600">
                <a:solidFill>
                  <a:srgbClr val="00B050"/>
                </a:solidFill>
              </a:rPr>
              <a:t>B</a:t>
            </a:r>
            <a:endParaRPr lang="en-US" altLang="zh-CN" sz="3600">
              <a:solidFill>
                <a:srgbClr val="00B05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15220" y="3543300"/>
            <a:ext cx="1743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00B050"/>
                </a:solidFill>
              </a:rPr>
              <a:t>玩家</a:t>
            </a:r>
            <a:r>
              <a:rPr lang="en-US" altLang="zh-CN" sz="3600">
                <a:solidFill>
                  <a:srgbClr val="00B050"/>
                </a:solidFill>
              </a:rPr>
              <a:t>C</a:t>
            </a:r>
            <a:endParaRPr lang="en-US" altLang="zh-CN" sz="3600">
              <a:solidFill>
                <a:srgbClr val="00B05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015220" y="4876800"/>
            <a:ext cx="1743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00B050"/>
                </a:solidFill>
              </a:rPr>
              <a:t>玩家</a:t>
            </a:r>
            <a:r>
              <a:rPr lang="en-US" altLang="zh-CN" sz="3600">
                <a:solidFill>
                  <a:srgbClr val="00B050"/>
                </a:solidFill>
              </a:rPr>
              <a:t>D</a:t>
            </a:r>
            <a:endParaRPr lang="en-US" altLang="zh-CN" sz="3600">
              <a:solidFill>
                <a:srgbClr val="00B050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9990" y="1530985"/>
            <a:ext cx="538480" cy="53022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10655300" y="1519555"/>
            <a:ext cx="561975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E3B73C"/>
                </a:solidFill>
              </a:rPr>
              <a:t>4</a:t>
            </a:r>
            <a:endParaRPr lang="en-US" altLang="zh-CN" sz="3200">
              <a:solidFill>
                <a:srgbClr val="E3B73C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9990" y="2785745"/>
            <a:ext cx="538480" cy="53022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10655300" y="2774315"/>
            <a:ext cx="561975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E3B73C"/>
                </a:solidFill>
              </a:rPr>
              <a:t>4</a:t>
            </a:r>
            <a:endParaRPr lang="en-US" altLang="zh-CN" sz="3200">
              <a:solidFill>
                <a:srgbClr val="E3B73C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9990" y="4266565"/>
            <a:ext cx="538480" cy="53022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38"/>
            </p:custDataLst>
          </p:nvPr>
        </p:nvSpPr>
        <p:spPr>
          <a:xfrm>
            <a:off x="10655300" y="4255135"/>
            <a:ext cx="561975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E3B73C"/>
                </a:solidFill>
              </a:rPr>
              <a:t>4</a:t>
            </a:r>
            <a:endParaRPr lang="en-US" altLang="zh-CN" sz="3200">
              <a:solidFill>
                <a:srgbClr val="E3B73C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9990" y="5613400"/>
            <a:ext cx="538480" cy="53022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10655300" y="5601970"/>
            <a:ext cx="561975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E3B73C"/>
                </a:solidFill>
              </a:rPr>
              <a:t>4</a:t>
            </a:r>
            <a:endParaRPr lang="en-US" altLang="zh-CN" sz="3200">
              <a:solidFill>
                <a:srgbClr val="E3B73C"/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10684510" y="1650365"/>
            <a:ext cx="404495" cy="38100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0684510" y="2934970"/>
            <a:ext cx="404495" cy="38100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10684510" y="4403090"/>
            <a:ext cx="404495" cy="38100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0684510" y="5762625"/>
            <a:ext cx="404495" cy="38100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1070590" y="1519555"/>
            <a:ext cx="688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3"/>
                </a:solidFill>
              </a:rPr>
              <a:t>2</a:t>
            </a:r>
            <a:endParaRPr lang="en-US" altLang="zh-CN" sz="3200">
              <a:solidFill>
                <a:schemeClr val="accent3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1089005" y="2785745"/>
            <a:ext cx="688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3"/>
                </a:solidFill>
              </a:rPr>
              <a:t>3</a:t>
            </a:r>
            <a:endParaRPr lang="en-US" altLang="zh-CN" sz="3200">
              <a:solidFill>
                <a:schemeClr val="accent3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1070590" y="5572760"/>
            <a:ext cx="688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3"/>
                </a:solidFill>
              </a:rPr>
              <a:t>2</a:t>
            </a:r>
            <a:endParaRPr lang="en-US" altLang="zh-CN" sz="3200">
              <a:solidFill>
                <a:schemeClr val="accent3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070590" y="4266565"/>
            <a:ext cx="688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3"/>
                </a:solidFill>
              </a:rPr>
              <a:t>3</a:t>
            </a:r>
            <a:endParaRPr lang="en-US" altLang="zh-CN" sz="3200">
              <a:solidFill>
                <a:schemeClr val="accent3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439910" y="318770"/>
            <a:ext cx="2447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每个玩家初始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个金币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0" name="流程图: 终止 49"/>
          <p:cNvSpPr/>
          <p:nvPr/>
        </p:nvSpPr>
        <p:spPr>
          <a:xfrm>
            <a:off x="2585085" y="2063115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227070" y="2205990"/>
            <a:ext cx="566737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可以看到我们的</a:t>
            </a:r>
            <a:r>
              <a:rPr lang="en-US" altLang="zh-CN" sz="2800"/>
              <a:t>A</a:t>
            </a:r>
            <a:r>
              <a:rPr lang="zh-CN" altLang="en-US" sz="2800"/>
              <a:t>玩家选择了直接晋升到序列</a:t>
            </a:r>
            <a:r>
              <a:rPr lang="en-US" altLang="zh-CN" sz="2800"/>
              <a:t>8,</a:t>
            </a:r>
            <a:r>
              <a:rPr lang="zh-CN" altLang="en-US" sz="2800"/>
              <a:t>而他选择的黑皇帝途径同样是一条发育类型的途径</a:t>
            </a:r>
            <a:r>
              <a:rPr lang="en-US" altLang="zh-CN" sz="2800"/>
              <a:t>,</a:t>
            </a:r>
            <a:r>
              <a:rPr lang="zh-CN" altLang="en-US" sz="2800"/>
              <a:t>他的想法可能是快速提高序列等级来创造优势</a:t>
            </a:r>
            <a:endParaRPr lang="zh-CN" altLang="en-US" sz="2800"/>
          </a:p>
        </p:txBody>
      </p:sp>
      <p:sp>
        <p:nvSpPr>
          <p:cNvPr id="52" name="流程图: 终止 51"/>
          <p:cNvSpPr/>
          <p:nvPr/>
        </p:nvSpPr>
        <p:spPr>
          <a:xfrm>
            <a:off x="2712085" y="2190115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357245" y="2164080"/>
            <a:ext cx="56673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而玩家</a:t>
            </a:r>
            <a:r>
              <a:rPr lang="en-US" altLang="zh-CN" sz="2800"/>
              <a:t>B</a:t>
            </a:r>
            <a:r>
              <a:rPr lang="zh-CN" altLang="en-US" sz="2800"/>
              <a:t>选择了死神途径</a:t>
            </a:r>
            <a:r>
              <a:rPr lang="en-US" altLang="zh-CN" sz="2800"/>
              <a:t>,</a:t>
            </a:r>
            <a:r>
              <a:rPr lang="zh-CN" altLang="en-US" sz="2800"/>
              <a:t>这是一条战斗途径，但并不强在前期。因为他是黑方信徒，可以明确的知道玩家</a:t>
            </a:r>
            <a:r>
              <a:rPr lang="en-US" altLang="zh-CN" sz="2800"/>
              <a:t>A</a:t>
            </a:r>
            <a:r>
              <a:rPr lang="zh-CN" altLang="en-US" sz="2800"/>
              <a:t>是自己阵营的老大，那么他的思路就是不与玩家</a:t>
            </a:r>
            <a:r>
              <a:rPr lang="en-US" altLang="zh-CN" sz="2800"/>
              <a:t>a</a:t>
            </a:r>
            <a:r>
              <a:rPr lang="zh-CN" altLang="en-US" sz="2800"/>
              <a:t>处于相邻途径，导致互相阻碍对方晋升</a:t>
            </a:r>
            <a:endParaRPr lang="zh-CN" altLang="en-US" sz="2800"/>
          </a:p>
        </p:txBody>
      </p:sp>
      <p:sp>
        <p:nvSpPr>
          <p:cNvPr id="54" name="流程图: 终止 53"/>
          <p:cNvSpPr/>
          <p:nvPr/>
        </p:nvSpPr>
        <p:spPr>
          <a:xfrm>
            <a:off x="2581910" y="2216150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3227070" y="2190115"/>
            <a:ext cx="56673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再看玩家</a:t>
            </a:r>
            <a:r>
              <a:rPr lang="en-US" altLang="zh-CN" sz="2800"/>
              <a:t>C</a:t>
            </a:r>
            <a:r>
              <a:rPr lang="zh-CN" altLang="en-US" sz="2800"/>
              <a:t>，他拿下了场上最后的魔药牌，与玩家</a:t>
            </a:r>
            <a:r>
              <a:rPr lang="en-US" altLang="zh-CN" sz="2800"/>
              <a:t>A</a:t>
            </a:r>
            <a:r>
              <a:rPr lang="zh-CN" altLang="en-US" sz="2800"/>
              <a:t>选择了相邻的途径互相阻碍彼此的晋升，因为他是黄方教皇，所以他的身份是透明的，所以他迫切需要尽快提升自己，同样也给自己明确的敌人带去了麻烦</a:t>
            </a:r>
            <a:endParaRPr lang="zh-CN" altLang="en-US" sz="2800"/>
          </a:p>
        </p:txBody>
      </p:sp>
      <p:sp>
        <p:nvSpPr>
          <p:cNvPr id="56" name="流程图: 终止 55"/>
          <p:cNvSpPr/>
          <p:nvPr/>
        </p:nvSpPr>
        <p:spPr>
          <a:xfrm>
            <a:off x="2581910" y="2216150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041650" y="2306320"/>
            <a:ext cx="59829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反观玩家</a:t>
            </a:r>
            <a:r>
              <a:rPr lang="en-US" altLang="zh-CN" sz="2800"/>
              <a:t>D </a:t>
            </a:r>
            <a:r>
              <a:rPr lang="zh-CN" altLang="en-US" sz="2800"/>
              <a:t>场上已经没有了魔药牌，那么他就选择了一件比较强力的武器，他的身份是黄方信徒，他在序列等级上明显落后，便提升自己的硬实力，以便有能力保护自己和队友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</p:transition>
    </mc:Choice>
    <mc:Fallback>
      <p:transition spd="slow"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28125 -0.0101852 L 0.0146354 -0.032037 L 0.0231771 -0.045463 L 0.0686458 -0.101019 L 0.0809375 -0.118704 L 0.0913542 -0.131389 L 0.104167 -0.145648 L 0.11125 -0.154074 L 0.123542 -0.165833 L 0.136823 -0.175093 L 0.143438 -0.180185 L 0.154792 -0.186944 L 0.171875 -0.191944 L 0.180365 -0.194444 L 0.189375 -0.20037 L 0.197917 -0.20287 L 0.211615 -0.20963 L 0.222969 -0.214722 L 0.230104 -0.218056 L 0.235781 -0.218056 L 0.241458 -0.219722 L 0.248073 -0.223981 L 0.256615 -0.229815 L 0.264635 -0.239074 L 0.273177 -0.244167 L 0.279792 -0.245833 L 0.28974 -0.252593 L 0.297812 -0.255093 L 0.304896 -0.260185 L 0.313906 -0.263519 L 0.321458 -0.263519 L 0.329062 -0.263519 L 0.340417 -0.263519 L 0.34849 -0.263519 L 0.364115 -0.263519 L 0.372135 -0.263519 L 0.37875 -0.263519 L 0.396771 -0.263519 L 0.402917 -0.263519 L 0.415677 -0.263519 L 0.422812 -0.263519 L 0.434635 -0.263519 L 0.443177 -0.261019 L 0.459271 -0.254259 L 0.472969 -0.249167 L 0.479167 -0.249167 L 0.489062 -0.245 L 0.50849 -0.237407 L 0.515625 -0.234907 L 0.525052 -0.231574 L 0.531719 -0.231574 L 0.537865 -0.227315 L 0.545417 -0.225648 L 0.553021 -0.223981 L 0.559635 -0.216389 L 0.567187 -0.210463 L 0.577135 -0.198704 L 0.595625 -0.186111 L 0.60224 -0.181019 L 0.608854 -0.175926 L 0.615052 -0.170926 L 0.62401 -0.157407 L 0.634948 -0.147315 " pathEditMode="relative" ptsTypes="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28125 -0.0101852 L 0.0146354 -0.032037 L 0.0231771 -0.045463 L 0.0686458 -0.101019 L 0.0809375 -0.118704 L 0.0913542 -0.131389 L 0.104167 -0.145648 L 0.11125 -0.154074 L 0.123542 -0.165833 L 0.136823 -0.175093 L 0.143438 -0.180185 L 0.154792 -0.186944 L 0.171875 -0.191944 L 0.180365 -0.194444 L 0.189375 -0.20037 L 0.197917 -0.20287 L 0.211615 -0.20963 L 0.222969 -0.214722 L 0.230104 -0.218056 L 0.235781 -0.218056 L 0.241458 -0.219722 L 0.248073 -0.223981 L 0.256615 -0.229815 L 0.264635 -0.239074 L 0.273177 -0.244167 L 0.279792 -0.245833 L 0.28974 -0.252593 L 0.297812 -0.255093 L 0.304896 -0.260185 L 0.313906 -0.263519 L 0.321458 -0.263519 L 0.329062 -0.263519 L 0.340417 -0.263519 L 0.34849 -0.263519 L 0.364115 -0.263519 L 0.372135 -0.263519 L 0.37875 -0.263519 L 0.396771 -0.263519 L 0.402917 -0.263519 L 0.415677 -0.263519 L 0.422812 -0.263519 L 0.434635 -0.263519 L 0.443177 -0.261019 L 0.459271 -0.254259 L 0.472969 -0.249167 L 0.479167 -0.249167 L 0.489062 -0.245 L 0.50849 -0.237407 L 0.515625 -0.234907 L 0.525052 -0.231574 L 0.531719 -0.231574 L 0.537865 -0.227315 L 0.545417 -0.225648 L 0.553021 -0.223981 L 0.559635 -0.216389 L 0.567187 -0.210463 L 0.577135 -0.198704 L 0.595625 -0.186111 L 0.60224 -0.181019 L 0.608854 -0.175926 L 0.615052 -0.170926 L 0.62401 -0.157407 L 0.634948 -0.147315 " pathEditMode="relative" ptsTypes="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28125 -0.0101852 L 0.0146354 -0.032037 L 0.0231771 -0.045463 L 0.0686458 -0.101019 L 0.0809375 -0.118704 L 0.0913542 -0.131389 L 0.104167 -0.145648 L 0.11125 -0.154074 L 0.123542 -0.165833 L 0.136823 -0.175093 L 0.143438 -0.180185 L 0.154792 -0.186944 L 0.171875 -0.191944 L 0.180365 -0.194444 L 0.189375 -0.20037 L 0.197917 -0.20287 L 0.211615 -0.20963 L 0.222969 -0.214722 L 0.230104 -0.218056 L 0.235781 -0.218056 L 0.241458 -0.219722 L 0.248073 -0.223981 L 0.256615 -0.229815 L 0.264635 -0.239074 L 0.273177 -0.244167 L 0.279792 -0.245833 L 0.28974 -0.252593 L 0.297812 -0.255093 L 0.304896 -0.260185 L 0.313906 -0.263519 L 0.321458 -0.263519 L 0.329062 -0.263519 L 0.340417 -0.263519 L 0.34849 -0.263519 L 0.364115 -0.263519 L 0.372135 -0.263519 L 0.37875 -0.263519 L 0.396771 -0.263519 L 0.402917 -0.263519 L 0.415677 -0.263519 L 0.422812 -0.263519 L 0.434635 -0.263519 L 0.443177 -0.261019 L 0.459271 -0.254259 L 0.472969 -0.249167 L 0.479167 -0.249167 L 0.489062 -0.245 L 0.50849 -0.237407 L 0.515625 -0.234907 L 0.525052 -0.231574 L 0.531719 -0.231574 L 0.537865 -0.227315 L 0.545417 -0.225648 L 0.553021 -0.223981 L 0.559635 -0.216389 L 0.567187 -0.210463 L 0.577135 -0.198704 L 0.595625 -0.186111 L 0.60224 -0.181019 L 0.608854 -0.175926 L 0.615052 -0.170926 L 0.62401 -0.157407 L 0.634948 -0.147315 " pathEditMode="relative" ptsTypes="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28125 -0.0101852 L 0.0146354 -0.032037 L 0.0231771 -0.045463 L 0.0686458 -0.101019 L 0.0809375 -0.118704 L 0.0913542 -0.131389 L 0.104167 -0.145648 L 0.11125 -0.154074 L 0.123542 -0.165833 L 0.136823 -0.175093 L 0.143438 -0.180185 L 0.154792 -0.186944 L 0.171875 -0.191944 L 0.180365 -0.194444 L 0.189375 -0.20037 L 0.197917 -0.20287 L 0.211615 -0.20963 L 0.222969 -0.214722 L 0.230104 -0.218056 L 0.235781 -0.218056 L 0.241458 -0.219722 L 0.248073 -0.223981 L 0.256615 -0.229815 L 0.264635 -0.239074 L 0.273177 -0.244167 L 0.279792 -0.245833 L 0.28974 -0.252593 L 0.297812 -0.255093 L 0.304896 -0.260185 L 0.313906 -0.263519 L 0.321458 -0.263519 L 0.329062 -0.263519 L 0.340417 -0.263519 L 0.34849 -0.263519 L 0.364115 -0.263519 L 0.372135 -0.263519 L 0.37875 -0.263519 L 0.396771 -0.263519 L 0.402917 -0.263519 L 0.415677 -0.263519 L 0.422812 -0.263519 L 0.434635 -0.263519 L 0.443177 -0.261019 L 0.459271 -0.254259 L 0.472969 -0.249167 L 0.479167 -0.249167 L 0.489062 -0.245 L 0.50849 -0.237407 L 0.515625 -0.234907 L 0.525052 -0.231574 L 0.531719 -0.231574 L 0.537865 -0.227315 L 0.545417 -0.225648 L 0.553021 -0.223981 L 0.559635 -0.216389 L 0.567187 -0.210463 L 0.577135 -0.198704 L 0.595625 -0.186111 L 0.60224 -0.181019 L 0.608854 -0.175926 L 0.615052 -0.170926 L 0.62401 -0.157407 L 0.634948 -0.147315 " pathEditMode="relative" ptsTypes="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28125 -0.0101852 L 0.0146354 -0.032037 L 0.0231771 -0.045463 L 0.0686458 -0.101019 L 0.0809375 -0.118704 L 0.0913542 -0.131389 L 0.104167 -0.145648 L 0.11125 -0.154074 L 0.123542 -0.165833 L 0.136823 -0.175093 L 0.143438 -0.180185 L 0.154792 -0.186944 L 0.171875 -0.191944 L 0.180365 -0.194444 L 0.189375 -0.20037 L 0.197917 -0.20287 L 0.211615 -0.20963 L 0.222969 -0.214722 L 0.230104 -0.218056 L 0.235781 -0.218056 L 0.241458 -0.219722 L 0.248073 -0.223981 L 0.256615 -0.229815 L 0.264635 -0.239074 L 0.273177 -0.244167 L 0.279792 -0.245833 L 0.28974 -0.252593 L 0.297812 -0.255093 L 0.304896 -0.260185 L 0.313906 -0.263519 L 0.321458 -0.263519 L 0.329062 -0.263519 L 0.340417 -0.263519 L 0.34849 -0.263519 L 0.364115 -0.263519 L 0.372135 -0.263519 L 0.37875 -0.263519 L 0.396771 -0.263519 L 0.402917 -0.263519 L 0.415677 -0.263519 L 0.422812 -0.263519 L 0.434635 -0.263519 L 0.443177 -0.261019 L 0.459271 -0.254259 L 0.472969 -0.249167 L 0.479167 -0.249167 L 0.489062 -0.245 L 0.50849 -0.237407 L 0.515625 -0.234907 L 0.525052 -0.231574 L 0.531719 -0.231574 L 0.537865 -0.227315 L 0.545417 -0.225648 L 0.553021 -0.223981 L 0.559635 -0.216389 L 0.567187 -0.210463 L 0.577135 -0.198704 L 0.595625 -0.186111 L 0.60224 -0.181019 L 0.608854 -0.175926 L 0.615052 -0.170926 L 0.62401 -0.157407 L 0.634948 -0.147315 " pathEditMode="relative" ptsTypes="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0417 -0.0193519 L 0.0132813 -0.0286111 L 0.0430729 -0.0648148 L 0.0525521 -0.0766667 L 0.0767187 -0.108611 L 0.0899479 -0.123796 L 0.095625 -0.133889 L 0.101354 -0.142315 L 0.126406 -0.1675 L 0.156719 -0.194444 L 0.19651 -0.222222 L 0.210729 -0.235741 L 0.221615 -0.25 L 0.240052 -0.259259 L 0.260417 -0.271944 L 0.267031 -0.273611 L 0.287396 -0.283704 L 0.295 -0.28963 L 0.301146 -0.29463 L 0.308229 -0.297963 L 0.313906 -0.305556 L 0.320052 -0.310648 " pathEditMode="relative" ptsTypes="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0417 -0.0193519 L 0.0132813 -0.0286111 L 0.0430729 -0.0648148 L 0.0525521 -0.0766667 L 0.0767187 -0.108611 L 0.0899479 -0.123796 L 0.095625 -0.133889 L 0.101354 -0.142315 L 0.126406 -0.1675 L 0.156719 -0.194444 L 0.19651 -0.222222 L 0.210729 -0.235741 L 0.221615 -0.25 L 0.240052 -0.259259 L 0.260417 -0.271944 L 0.267031 -0.273611 L 0.287396 -0.283704 L 0.295 -0.28963 L 0.301146 -0.29463 L 0.308229 -0.297963 L 0.313906 -0.305556 L 0.320052 -0.310648 " pathEditMode="relative" ptsTypes="">
                                      <p:cBhvr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0417 -0.0193519 L 0.0132813 -0.0286111 L 0.0430729 -0.0648148 L 0.0525521 -0.0766667 L 0.0767187 -0.108611 L 0.0899479 -0.123796 L 0.095625 -0.133889 L 0.101354 -0.142315 L 0.126406 -0.1675 L 0.156719 -0.194444 L 0.19651 -0.222222 L 0.210729 -0.235741 L 0.221615 -0.25 L 0.240052 -0.259259 L 0.260417 -0.271944 L 0.267031 -0.273611 L 0.287396 -0.283704 L 0.295 -0.28963 L 0.301146 -0.29463 L 0.308229 -0.297963 L 0.313906 -0.305556 L 0.320052 -0.310648 " pathEditMode="relative" ptsTypes="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4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6" dur="1000" fill="hold"/>
                                        <p:tgtEl>
                                          <p:spTgt spid="13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8" dur="1000" fill="hold"/>
                                        <p:tgtEl>
                                          <p:spTgt spid="14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0" dur="1000" fill="hold"/>
                                        <p:tgtEl>
                                          <p:spTgt spid="24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2" dur="1000" fill="hold"/>
                                        <p:tgtEl>
                                          <p:spTgt spid="25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4" dur="1000" fill="hold"/>
                                        <p:tgtEl>
                                          <p:spTgt spid="26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0573 -0.182685 " pathEditMode="relative" ptsTypes="">
                                      <p:cBhvr>
                                        <p:cTn id="1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0573 -0.182685 " pathEditMode="relative" ptsTypes="">
                                      <p:cBhvr>
                                        <p:cTn id="1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0573 -0.182685 " pathEditMode="relative" ptsTypes="">
                                      <p:cBhvr>
                                        <p:cTn id="1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0573 -0.182685 " pathEditMode="relative" ptsTypes="">
                                      <p:cBhvr>
                                        <p:cTn id="1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8958 0.242407 " pathEditMode="relative" ptsTypes="">
                                      <p:cBhvr>
                                        <p:cTn id="1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8958 0.242407 " pathEditMode="relative" ptsTypes="">
                                      <p:cBhvr>
                                        <p:cTn id="1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8958 0.242407 " pathEditMode="relative" ptsTypes="">
                                      <p:cBhvr>
                                        <p:cTn id="1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8" dur="1000" fill="hold"/>
                                        <p:tgtEl>
                                          <p:spTgt spid="15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8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1000" fill="hold"/>
                                        <p:tgtEl>
                                          <p:spTgt spid="16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2" dur="1000" fill="hold"/>
                                        <p:tgtEl>
                                          <p:spTgt spid="17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81354 0.0252778 " pathEditMode="relative" ptsTypes="">
                                      <p:cBhvr>
                                        <p:cTn id="1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81354 0.0252778 " pathEditMode="relative" ptsTypes="">
                                      <p:cBhvr>
                                        <p:cTn id="19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81354 0.0252778 " pathEditMode="relative" ptsTypes="">
                                      <p:cBhvr>
                                        <p:cTn id="19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10" grpId="1"/>
      <p:bldP spid="20" grpId="1"/>
      <p:bldP spid="27" grpId="0"/>
      <p:bldP spid="28" grpId="0"/>
      <p:bldP spid="29" grpId="0"/>
      <p:bldP spid="30" grpId="0"/>
      <p:bldP spid="32" grpId="0"/>
      <p:bldP spid="34" grpId="0"/>
      <p:bldP spid="36" grpId="0"/>
      <p:bldP spid="38" grpId="0"/>
      <p:bldP spid="27" grpId="1"/>
      <p:bldP spid="28" grpId="1"/>
      <p:bldP spid="29" grpId="1"/>
      <p:bldP spid="30" grpId="1"/>
      <p:bldP spid="32" grpId="1"/>
      <p:bldP spid="34" grpId="1"/>
      <p:bldP spid="36" grpId="1"/>
      <p:bldP spid="38" grpId="1"/>
      <p:bldP spid="12" grpId="0"/>
      <p:bldP spid="7" grpId="0"/>
      <p:bldP spid="12" grpId="1"/>
      <p:bldP spid="7" grpId="1"/>
      <p:bldP spid="12" grpId="2"/>
      <p:bldP spid="7" grpId="2"/>
      <p:bldP spid="43" grpId="0"/>
      <p:bldP spid="43" grpId="1"/>
      <p:bldP spid="23" grpId="0"/>
      <p:bldP spid="23" grpId="1"/>
      <p:bldP spid="23" grpId="2"/>
      <p:bldP spid="44" grpId="1"/>
      <p:bldP spid="45" grpId="1"/>
      <p:bldP spid="46" grpId="1"/>
      <p:bldP spid="44" grpId="2"/>
      <p:bldP spid="14" grpId="0"/>
      <p:bldP spid="26" grpId="0"/>
      <p:bldP spid="14" grpId="1"/>
      <p:bldP spid="26" grpId="1"/>
      <p:bldP spid="26" grpId="2"/>
      <p:bldP spid="14" grpId="2"/>
      <p:bldP spid="46" grpId="2"/>
      <p:bldP spid="17" grpId="0"/>
      <p:bldP spid="17" grpId="1"/>
      <p:bldP spid="17" grpId="2"/>
      <p:bldP spid="45" grpId="2"/>
      <p:bldP spid="51" grpId="0"/>
      <p:bldP spid="50" grpId="0" animBg="1"/>
      <p:bldP spid="51" grpId="1"/>
      <p:bldP spid="50" grpId="1" animBg="1"/>
      <p:bldP spid="53" grpId="0"/>
      <p:bldP spid="52" grpId="0" bldLvl="0" animBg="1"/>
      <p:bldP spid="53" grpId="1"/>
      <p:bldP spid="52" grpId="1" bldLvl="0" animBg="1"/>
      <p:bldP spid="55" grpId="0"/>
      <p:bldP spid="54" grpId="0" bldLvl="0" animBg="1"/>
      <p:bldP spid="55" grpId="1"/>
      <p:bldP spid="54" grpId="1" bldLvl="0" animBg="1"/>
      <p:bldP spid="57" grpId="0"/>
      <p:bldP spid="56" grpId="0" bldLvl="0" animBg="1"/>
      <p:bldP spid="57" grpId="1"/>
      <p:bldP spid="56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矩形 25"/>
          <p:cNvSpPr/>
          <p:nvPr/>
        </p:nvSpPr>
        <p:spPr>
          <a:xfrm>
            <a:off x="4110355" y="4637405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064000" y="4637405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黑方教皇</a:t>
            </a:r>
            <a:endParaRPr lang="zh-CN" altLang="en-US" sz="1400"/>
          </a:p>
        </p:txBody>
      </p:sp>
      <p:sp>
        <p:nvSpPr>
          <p:cNvPr id="34" name="矩形 33"/>
          <p:cNvSpPr/>
          <p:nvPr/>
        </p:nvSpPr>
        <p:spPr>
          <a:xfrm>
            <a:off x="7374255" y="1874520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327900" y="1874520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黄方教皇</a:t>
            </a:r>
            <a:endParaRPr lang="zh-CN" altLang="en-US" sz="1400"/>
          </a:p>
        </p:txBody>
      </p:sp>
      <p:sp>
        <p:nvSpPr>
          <p:cNvPr id="53" name="矩形 52"/>
          <p:cNvSpPr/>
          <p:nvPr/>
        </p:nvSpPr>
        <p:spPr>
          <a:xfrm>
            <a:off x="2138680" y="2019300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080895" y="2059940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黄方信徒</a:t>
            </a:r>
            <a:endParaRPr lang="zh-CN" altLang="en-US" sz="1400"/>
          </a:p>
        </p:txBody>
      </p:sp>
      <p:sp>
        <p:nvSpPr>
          <p:cNvPr id="59" name="矩形 58"/>
          <p:cNvSpPr/>
          <p:nvPr/>
        </p:nvSpPr>
        <p:spPr>
          <a:xfrm>
            <a:off x="9669780" y="5083175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9611995" y="5123815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黑方信徒</a:t>
            </a:r>
            <a:endParaRPr lang="zh-CN" altLang="en-US" sz="140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-961390" y="2878455"/>
            <a:ext cx="3996690" cy="209740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9302750" y="2313305"/>
            <a:ext cx="3775710" cy="2067560"/>
          </a:xfrm>
          <a:prstGeom prst="rect">
            <a:avLst/>
          </a:prstGeom>
        </p:spPr>
      </p:pic>
      <p:pic>
        <p:nvPicPr>
          <p:cNvPr id="5" name="图片 4" descr="玩家基本面板"/>
          <p:cNvPicPr>
            <a:picLocks noChangeAspect="1"/>
          </p:cNvPicPr>
          <p:nvPr/>
        </p:nvPicPr>
        <p:blipFill>
          <a:blip r:embed="rId2"/>
          <a:srcRect t="46" b="46"/>
          <a:stretch>
            <a:fillRect/>
          </a:stretch>
        </p:blipFill>
        <p:spPr>
          <a:xfrm>
            <a:off x="4666615" y="4981575"/>
            <a:ext cx="4256532" cy="1921780"/>
          </a:xfrm>
          <a:prstGeom prst="rect">
            <a:avLst/>
          </a:prstGeom>
        </p:spPr>
      </p:pic>
      <p:pic>
        <p:nvPicPr>
          <p:cNvPr id="9" name="图片 8" descr="玩家基本面板"/>
          <p:cNvPicPr>
            <a:picLocks noChangeAspect="1"/>
          </p:cNvPicPr>
          <p:nvPr/>
        </p:nvPicPr>
        <p:blipFill>
          <a:blip r:embed="rId3"/>
          <a:srcRect t="2513" b="2513"/>
          <a:stretch>
            <a:fillRect/>
          </a:stretch>
        </p:blipFill>
        <p:spPr>
          <a:xfrm rot="10800000">
            <a:off x="4766945" y="0"/>
            <a:ext cx="4156075" cy="17830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072890" y="2475865"/>
            <a:ext cx="4046855" cy="2019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13325" y="3021965"/>
            <a:ext cx="2165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弃牌堆</a:t>
            </a:r>
            <a:endParaRPr lang="zh-CN" altLang="en-US" sz="4800"/>
          </a:p>
        </p:txBody>
      </p:sp>
      <p:sp>
        <p:nvSpPr>
          <p:cNvPr id="13" name="矩形 12"/>
          <p:cNvSpPr/>
          <p:nvPr/>
        </p:nvSpPr>
        <p:spPr>
          <a:xfrm>
            <a:off x="21590" y="22225"/>
            <a:ext cx="2458720" cy="12065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272270" y="22225"/>
            <a:ext cx="2912745" cy="12065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1590" y="18351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基本牌堆</a:t>
            </a:r>
            <a:endParaRPr lang="zh-CN" altLang="en-US" sz="4400"/>
          </a:p>
        </p:txBody>
      </p:sp>
      <p:sp>
        <p:nvSpPr>
          <p:cNvPr id="16" name="文本框 15"/>
          <p:cNvSpPr txBox="1"/>
          <p:nvPr/>
        </p:nvSpPr>
        <p:spPr>
          <a:xfrm>
            <a:off x="9558655" y="18351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灵界牌堆</a:t>
            </a:r>
            <a:endParaRPr lang="zh-CN" altLang="en-US" sz="4400"/>
          </a:p>
        </p:txBody>
      </p:sp>
      <p:sp>
        <p:nvSpPr>
          <p:cNvPr id="17" name="文本框 16"/>
          <p:cNvSpPr txBox="1"/>
          <p:nvPr/>
        </p:nvSpPr>
        <p:spPr>
          <a:xfrm>
            <a:off x="7655560" y="5064125"/>
            <a:ext cx="86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11935" y="4776470"/>
            <a:ext cx="459740" cy="5829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4010" y="5217795"/>
            <a:ext cx="31750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D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17150" y="20599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家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 B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87925" y="1337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C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155" y="5071745"/>
            <a:ext cx="1521460" cy="17862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20" y="5020310"/>
            <a:ext cx="1788795" cy="18376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5525317" y="5011200"/>
            <a:ext cx="184404" cy="216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940" y="4641215"/>
            <a:ext cx="254635" cy="2508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17230" y="458279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2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5505" y="2127885"/>
            <a:ext cx="254635" cy="250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1841500"/>
            <a:ext cx="254635" cy="2508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2335" y="4730750"/>
            <a:ext cx="254635" cy="25082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732010" y="247586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3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355590" y="178308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3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118995" y="505269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2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rcRect l="39" r="39"/>
          <a:stretch>
            <a:fillRect/>
          </a:stretch>
        </p:blipFill>
        <p:spPr>
          <a:xfrm>
            <a:off x="10093960" y="5234940"/>
            <a:ext cx="1327150" cy="1619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075" y="35560"/>
            <a:ext cx="1372870" cy="17589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10223500" y="4297680"/>
            <a:ext cx="182880" cy="192405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5400675" y="5545455"/>
            <a:ext cx="601345" cy="1002030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457825" y="5674995"/>
            <a:ext cx="459740" cy="6191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415280" y="5542915"/>
            <a:ext cx="601345" cy="1002030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472430" y="5672455"/>
            <a:ext cx="459740" cy="6191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5473065" y="1641475"/>
            <a:ext cx="15875" cy="4121150"/>
          </a:xfrm>
          <a:prstGeom prst="straightConnector1">
            <a:avLst/>
          </a:prstGeom>
          <a:ln w="508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763135" y="635"/>
            <a:ext cx="831850" cy="65913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843780" y="16002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手枪</a:t>
            </a: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76605" y="3927475"/>
            <a:ext cx="723900" cy="120713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89635" y="4035425"/>
            <a:ext cx="459740" cy="10356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炮击之枪</a:t>
            </a:r>
            <a:endParaRPr lang="zh-CN" altLang="en-US"/>
          </a:p>
        </p:txBody>
      </p:sp>
      <p:sp>
        <p:nvSpPr>
          <p:cNvPr id="56" name="流程图: 终止 55"/>
          <p:cNvSpPr/>
          <p:nvPr/>
        </p:nvSpPr>
        <p:spPr>
          <a:xfrm>
            <a:off x="2581910" y="2216150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041650" y="2306320"/>
            <a:ext cx="59829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由于第</a:t>
            </a:r>
            <a:r>
              <a:rPr lang="en-US" altLang="zh-CN" sz="2800"/>
              <a:t>1</a:t>
            </a:r>
            <a:r>
              <a:rPr lang="zh-CN" altLang="en-US" sz="2800"/>
              <a:t>回合没有视野，玩家</a:t>
            </a:r>
            <a:r>
              <a:rPr lang="en-US" altLang="zh-CN" sz="2800"/>
              <a:t>A</a:t>
            </a:r>
            <a:r>
              <a:rPr lang="zh-CN" altLang="en-US" sz="2800"/>
              <a:t>最好的选择就是攻击自己明确的敌对目标、而对方在自己的攻击范围之外，于是他使用了野蛮人的技能，用两张同样的手牌强制命中了对方</a:t>
            </a:r>
            <a:endParaRPr lang="zh-CN" altLang="en-US" sz="2800"/>
          </a:p>
        </p:txBody>
      </p:sp>
      <p:sp>
        <p:nvSpPr>
          <p:cNvPr id="45" name="矩形 44"/>
          <p:cNvSpPr/>
          <p:nvPr/>
        </p:nvSpPr>
        <p:spPr>
          <a:xfrm>
            <a:off x="7518400" y="528320"/>
            <a:ext cx="601345" cy="1002030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589520" y="659765"/>
            <a:ext cx="459740" cy="6191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闪避</a:t>
            </a:r>
            <a:endParaRPr lang="zh-CN" altLang="en-US"/>
          </a:p>
        </p:txBody>
      </p:sp>
      <p:sp>
        <p:nvSpPr>
          <p:cNvPr id="47" name="流程图: 终止 46"/>
          <p:cNvSpPr/>
          <p:nvPr/>
        </p:nvSpPr>
        <p:spPr>
          <a:xfrm>
            <a:off x="2595880" y="2331085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055620" y="3176270"/>
            <a:ext cx="59829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玩家</a:t>
            </a:r>
            <a:r>
              <a:rPr lang="en-US" altLang="zh-CN" sz="2800"/>
              <a:t>C</a:t>
            </a:r>
            <a:r>
              <a:rPr lang="zh-CN" altLang="en-US" sz="2800"/>
              <a:t>交出了闪避免疫了此次行动</a:t>
            </a:r>
            <a:endParaRPr lang="zh-CN" altLang="en-US" sz="2800"/>
          </a:p>
        </p:txBody>
      </p:sp>
      <p:sp>
        <p:nvSpPr>
          <p:cNvPr id="51" name="流程图: 终止 50"/>
          <p:cNvSpPr/>
          <p:nvPr/>
        </p:nvSpPr>
        <p:spPr>
          <a:xfrm>
            <a:off x="2480310" y="2331085"/>
            <a:ext cx="6813550" cy="2650490"/>
          </a:xfrm>
          <a:prstGeom prst="flowChartTermina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2940050" y="3176270"/>
            <a:ext cx="598297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玩家行动完毕后，手牌上限不得超过当前血量。玩家</a:t>
            </a:r>
            <a:r>
              <a:rPr lang="en-US" altLang="zh-CN" sz="2800"/>
              <a:t>A</a:t>
            </a:r>
            <a:r>
              <a:rPr lang="zh-CN" altLang="en-US" sz="2800"/>
              <a:t>此时结束行动，剩下三张手牌，不需要弃牌。</a:t>
            </a:r>
            <a:endParaRPr lang="zh-CN" altLang="en-US" sz="2800"/>
          </a:p>
        </p:txBody>
      </p:sp>
      <p:sp>
        <p:nvSpPr>
          <p:cNvPr id="54" name="流程图: 决策 53"/>
          <p:cNvSpPr/>
          <p:nvPr/>
        </p:nvSpPr>
        <p:spPr>
          <a:xfrm>
            <a:off x="6609080" y="5071745"/>
            <a:ext cx="1047115" cy="419100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781165" y="5114290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2">
                    <a:lumMod val="75000"/>
                  </a:schemeClr>
                </a:solidFill>
              </a:rPr>
              <a:t>行动中</a:t>
            </a:r>
            <a:endParaRPr lang="zh-CN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流程图: 决策 5"/>
          <p:cNvSpPr/>
          <p:nvPr/>
        </p:nvSpPr>
        <p:spPr>
          <a:xfrm rot="16200000">
            <a:off x="9894570" y="3362325"/>
            <a:ext cx="1047115" cy="419100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 rot="16200000">
            <a:off x="9985375" y="3336925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2">
                    <a:lumMod val="75000"/>
                  </a:schemeClr>
                </a:solidFill>
              </a:rPr>
              <a:t>行动中</a:t>
            </a:r>
            <a:endParaRPr lang="zh-CN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96105" y="4295140"/>
            <a:ext cx="3302635" cy="11372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3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每人每次开始行动前摸两张牌</a:t>
            </a:r>
            <a:endParaRPr lang="zh-CN" altLang="en-US" sz="3400" b="1">
              <a:ln w="6600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4375 -0.410926 " pathEditMode="relative" ptsTypes=""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4375 -0.410926 " pathEditMode="relative" ptsTypes="">
                                      <p:cBhvr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4375 -0.410926 " pathEditMode="relative" ptsTypes="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4375 -0.410926 " pathEditMode="relative" ptsTypes="">
                                      <p:cBhvr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 0.366759 " pathEditMode="relative" rAng="0" ptsTypes="">
                                      <p:cBhvr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205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5938 0.371481 " pathEditMode="relative" rAng="0" ptsTypes="">
                                      <p:cBhvr>
                                        <p:cTn id="1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2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35" grpId="1" animBg="1"/>
      <p:bldP spid="36" grpId="1"/>
      <p:bldP spid="35" grpId="2" animBg="1"/>
      <p:bldP spid="36" grpId="2"/>
      <p:bldP spid="37" grpId="0" bldLvl="0" animBg="1"/>
      <p:bldP spid="38" grpId="0"/>
      <p:bldP spid="37" grpId="1" animBg="1"/>
      <p:bldP spid="38" grpId="1"/>
      <p:bldP spid="37" grpId="2" bldLvl="0" animBg="1"/>
      <p:bldP spid="38" grpId="2"/>
      <p:bldP spid="41" grpId="0" animBg="1"/>
      <p:bldP spid="42" grpId="0"/>
      <p:bldP spid="43" grpId="0" animBg="1"/>
      <p:bldP spid="44" grpId="0"/>
      <p:bldP spid="41" grpId="1" animBg="1"/>
      <p:bldP spid="42" grpId="1"/>
      <p:bldP spid="43" grpId="1" animBg="1"/>
      <p:bldP spid="44" grpId="1"/>
      <p:bldP spid="57" grpId="0"/>
      <p:bldP spid="56" grpId="0" bldLvl="0" animBg="1"/>
      <p:bldP spid="57" grpId="1"/>
      <p:bldP spid="56" grpId="1" bldLvl="0" animBg="1"/>
      <p:bldP spid="45" grpId="0" bldLvl="0" animBg="1"/>
      <p:bldP spid="45" grpId="1" animBg="1"/>
      <p:bldP spid="45" grpId="2" bldLvl="0" animBg="1"/>
      <p:bldP spid="46" grpId="0"/>
      <p:bldP spid="46" grpId="1"/>
      <p:bldP spid="46" grpId="2"/>
      <p:bldP spid="50" grpId="0"/>
      <p:bldP spid="47" grpId="0" bldLvl="0" animBg="1"/>
      <p:bldP spid="50" grpId="1"/>
      <p:bldP spid="47" grpId="1" bldLvl="0" animBg="1"/>
      <p:bldP spid="52" grpId="0"/>
      <p:bldP spid="51" grpId="0" bldLvl="0" animBg="1"/>
      <p:bldP spid="52" grpId="1"/>
      <p:bldP spid="51" grpId="1" bldLvl="0" animBg="1"/>
      <p:bldP spid="55" grpId="0"/>
      <p:bldP spid="54" grpId="0" animBg="1"/>
      <p:bldP spid="54" grpId="1" animBg="1"/>
      <p:bldP spid="55" grpId="1"/>
      <p:bldP spid="8" grpId="0"/>
      <p:bldP spid="6" grpId="0" bldLvl="0" animBg="1"/>
      <p:bldP spid="25" grpId="0"/>
      <p:bldP spid="25" grpId="1"/>
      <p:bldP spid="25" grpId="2"/>
      <p:bldP spid="26" grpId="0" bldLvl="0" animBg="1"/>
      <p:bldP spid="27" grpId="0"/>
      <p:bldP spid="26" grpId="1" animBg="1"/>
      <p:bldP spid="27" grpId="1"/>
      <p:bldP spid="59" grpId="0" bldLvl="0" animBg="1"/>
      <p:bldP spid="60" grpId="0"/>
      <p:bldP spid="59" grpId="1" animBg="1"/>
      <p:bldP spid="60" grpId="1"/>
      <p:bldP spid="34" grpId="0" bldLvl="0" animBg="1"/>
      <p:bldP spid="40" grpId="0"/>
      <p:bldP spid="34" grpId="1" animBg="1"/>
      <p:bldP spid="40" grpId="1"/>
      <p:bldP spid="53" grpId="0" bldLvl="0" animBg="1"/>
      <p:bldP spid="58" grpId="0"/>
      <p:bldP spid="53" grpId="1" animBg="1"/>
      <p:bldP spid="5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110355" y="4637405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64000" y="4637405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黑方教皇</a:t>
            </a:r>
            <a:endParaRPr lang="zh-CN" altLang="en-US" sz="1400"/>
          </a:p>
        </p:txBody>
      </p:sp>
      <p:sp>
        <p:nvSpPr>
          <p:cNvPr id="35" name="矩形 34"/>
          <p:cNvSpPr/>
          <p:nvPr/>
        </p:nvSpPr>
        <p:spPr>
          <a:xfrm>
            <a:off x="7374255" y="1874520"/>
            <a:ext cx="847090" cy="2971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327900" y="1874520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黄方教皇</a:t>
            </a:r>
            <a:endParaRPr lang="zh-CN" altLang="en-US" sz="1400"/>
          </a:p>
        </p:txBody>
      </p:sp>
      <p:sp>
        <p:nvSpPr>
          <p:cNvPr id="37" name="矩形 36"/>
          <p:cNvSpPr/>
          <p:nvPr/>
        </p:nvSpPr>
        <p:spPr>
          <a:xfrm>
            <a:off x="2138680" y="2019300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080895" y="2059940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黄方信徒</a:t>
            </a:r>
            <a:endParaRPr lang="zh-CN" altLang="en-US" sz="1400"/>
          </a:p>
        </p:txBody>
      </p:sp>
      <p:sp>
        <p:nvSpPr>
          <p:cNvPr id="39" name="矩形 38"/>
          <p:cNvSpPr/>
          <p:nvPr/>
        </p:nvSpPr>
        <p:spPr>
          <a:xfrm>
            <a:off x="9669780" y="5083175"/>
            <a:ext cx="323850" cy="885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9611995" y="5123815"/>
            <a:ext cx="398145" cy="8451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1400"/>
              <a:t>黑方信徒</a:t>
            </a:r>
            <a:endParaRPr lang="zh-CN" altLang="en-US" sz="140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-961390" y="2878455"/>
            <a:ext cx="3996690" cy="209740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9302750" y="2313305"/>
            <a:ext cx="3775710" cy="2067560"/>
          </a:xfrm>
          <a:prstGeom prst="rect">
            <a:avLst/>
          </a:prstGeom>
        </p:spPr>
      </p:pic>
      <p:pic>
        <p:nvPicPr>
          <p:cNvPr id="5" name="图片 4" descr="玩家基本面板"/>
          <p:cNvPicPr>
            <a:picLocks noChangeAspect="1"/>
          </p:cNvPicPr>
          <p:nvPr/>
        </p:nvPicPr>
        <p:blipFill>
          <a:blip r:embed="rId2"/>
          <a:srcRect t="46" b="46"/>
          <a:stretch>
            <a:fillRect/>
          </a:stretch>
        </p:blipFill>
        <p:spPr>
          <a:xfrm>
            <a:off x="4666615" y="4981575"/>
            <a:ext cx="4256532" cy="1921780"/>
          </a:xfrm>
          <a:prstGeom prst="rect">
            <a:avLst/>
          </a:prstGeom>
        </p:spPr>
      </p:pic>
      <p:pic>
        <p:nvPicPr>
          <p:cNvPr id="9" name="图片 8" descr="玩家基本面板"/>
          <p:cNvPicPr>
            <a:picLocks noChangeAspect="1"/>
          </p:cNvPicPr>
          <p:nvPr/>
        </p:nvPicPr>
        <p:blipFill>
          <a:blip r:embed="rId3"/>
          <a:srcRect t="2513" b="2513"/>
          <a:stretch>
            <a:fillRect/>
          </a:stretch>
        </p:blipFill>
        <p:spPr>
          <a:xfrm rot="10800000">
            <a:off x="4766945" y="0"/>
            <a:ext cx="4156075" cy="17830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072890" y="2475865"/>
            <a:ext cx="4046855" cy="201993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13325" y="3021965"/>
            <a:ext cx="21653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弃牌堆</a:t>
            </a:r>
            <a:endParaRPr lang="zh-CN" altLang="en-US" sz="4800"/>
          </a:p>
        </p:txBody>
      </p:sp>
      <p:sp>
        <p:nvSpPr>
          <p:cNvPr id="13" name="矩形 12"/>
          <p:cNvSpPr/>
          <p:nvPr/>
        </p:nvSpPr>
        <p:spPr>
          <a:xfrm>
            <a:off x="21590" y="22225"/>
            <a:ext cx="2458720" cy="12065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272270" y="22225"/>
            <a:ext cx="2912745" cy="12065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1590" y="18351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基本牌堆</a:t>
            </a:r>
            <a:endParaRPr lang="zh-CN" altLang="en-US" sz="4400"/>
          </a:p>
        </p:txBody>
      </p:sp>
      <p:sp>
        <p:nvSpPr>
          <p:cNvPr id="16" name="文本框 15"/>
          <p:cNvSpPr txBox="1"/>
          <p:nvPr/>
        </p:nvSpPr>
        <p:spPr>
          <a:xfrm>
            <a:off x="9558655" y="183515"/>
            <a:ext cx="25742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灵界牌堆</a:t>
            </a:r>
            <a:endParaRPr lang="zh-CN" altLang="en-US" sz="4400"/>
          </a:p>
        </p:txBody>
      </p:sp>
      <p:sp>
        <p:nvSpPr>
          <p:cNvPr id="17" name="文本框 16"/>
          <p:cNvSpPr txBox="1"/>
          <p:nvPr/>
        </p:nvSpPr>
        <p:spPr>
          <a:xfrm>
            <a:off x="7655560" y="5064125"/>
            <a:ext cx="86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11935" y="4776470"/>
            <a:ext cx="459740" cy="5829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4010" y="5217795"/>
            <a:ext cx="317500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D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17150" y="20599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家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 B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87925" y="1337945"/>
            <a:ext cx="980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玩家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</a:rPr>
              <a:t>C</a:t>
            </a:r>
            <a:endParaRPr lang="en-US" altLang="zh-CN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155" y="5071745"/>
            <a:ext cx="1521460" cy="1786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20" y="5020310"/>
            <a:ext cx="1788795" cy="18376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5525317" y="5011200"/>
            <a:ext cx="184404" cy="216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940" y="4641215"/>
            <a:ext cx="254635" cy="2508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17230" y="458279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2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5505" y="2127885"/>
            <a:ext cx="254635" cy="2508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1841500"/>
            <a:ext cx="254635" cy="2508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2335" y="4730750"/>
            <a:ext cx="254635" cy="25082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732010" y="247586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3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355590" y="1783080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3</a:t>
            </a:r>
            <a:endParaRPr lang="en-US" altLang="zh-CN">
              <a:solidFill>
                <a:srgbClr val="E3B73C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118995" y="5052695"/>
            <a:ext cx="36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E3B73C"/>
                </a:solidFill>
              </a:rPr>
              <a:t>2</a:t>
            </a:r>
            <a:endParaRPr lang="en-US" altLang="zh-CN">
              <a:solidFill>
                <a:srgbClr val="E3B73C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rcRect l="39" r="39"/>
          <a:stretch>
            <a:fillRect/>
          </a:stretch>
        </p:blipFill>
        <p:spPr>
          <a:xfrm>
            <a:off x="10093960" y="5234940"/>
            <a:ext cx="1327150" cy="1619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4075" y="35560"/>
            <a:ext cx="1372870" cy="17589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10223500" y="4297680"/>
            <a:ext cx="182880" cy="192405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4763135" y="635"/>
            <a:ext cx="831850" cy="65913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843780" y="16002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手枪</a:t>
            </a: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76605" y="3927475"/>
            <a:ext cx="723900" cy="120713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889635" y="4035425"/>
            <a:ext cx="459740" cy="10356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炮击之枪</a:t>
            </a:r>
            <a:endParaRPr lang="zh-CN" altLang="en-US"/>
          </a:p>
        </p:txBody>
      </p:sp>
      <p:sp>
        <p:nvSpPr>
          <p:cNvPr id="54" name="流程图: 决策 53"/>
          <p:cNvSpPr/>
          <p:nvPr/>
        </p:nvSpPr>
        <p:spPr>
          <a:xfrm rot="16200000">
            <a:off x="9917430" y="3402330"/>
            <a:ext cx="1047115" cy="419100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 rot="16200000">
            <a:off x="9996805" y="3372485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2">
                    <a:lumMod val="75000"/>
                  </a:schemeClr>
                </a:solidFill>
              </a:rPr>
              <a:t>行动中</a:t>
            </a:r>
            <a:endParaRPr lang="zh-CN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6198870" y="1592580"/>
            <a:ext cx="4311650" cy="2230120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0650855" y="3962400"/>
            <a:ext cx="1079500" cy="505460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0824845" y="4035425"/>
            <a:ext cx="735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呓语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124825" y="1360170"/>
            <a:ext cx="200660" cy="187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0846435" y="3771265"/>
            <a:ext cx="1131570" cy="510540"/>
          </a:xfrm>
          <a:prstGeom prst="rect">
            <a:avLst/>
          </a:prstGeom>
          <a:solidFill>
            <a:srgbClr val="FDC51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872470" y="4411345"/>
            <a:ext cx="1156970" cy="52324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1054715" y="3851910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弃牌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1113135" y="4467860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弃牌</a:t>
            </a:r>
            <a:endParaRPr lang="zh-CN" altLang="en-US"/>
          </a:p>
        </p:txBody>
      </p:sp>
      <p:sp>
        <p:nvSpPr>
          <p:cNvPr id="60" name="流程图: 决策 59"/>
          <p:cNvSpPr/>
          <p:nvPr/>
        </p:nvSpPr>
        <p:spPr>
          <a:xfrm>
            <a:off x="5795645" y="1375410"/>
            <a:ext cx="1047115" cy="419100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5968365" y="1399540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2">
                    <a:lumMod val="75000"/>
                  </a:schemeClr>
                </a:solidFill>
              </a:rPr>
              <a:t>行动中</a:t>
            </a:r>
            <a:endParaRPr lang="zh-CN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6984000" y="1567180"/>
            <a:ext cx="3255010" cy="1661160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7375525" y="448310"/>
            <a:ext cx="497205" cy="873125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435850" y="597535"/>
            <a:ext cx="382270" cy="57975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诅咒</a:t>
            </a: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7677150" y="448310"/>
            <a:ext cx="497205" cy="873125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737475" y="597535"/>
            <a:ext cx="382270" cy="57975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诅咒</a:t>
            </a:r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8767763" y="2981960"/>
            <a:ext cx="3364865" cy="64516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6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被迫弃掉</a:t>
            </a:r>
            <a:r>
              <a:rPr lang="en-US" altLang="zh-CN" sz="36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4 </a:t>
            </a:r>
            <a:r>
              <a:rPr lang="zh-CN" altLang="en-US" sz="36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张牌</a:t>
            </a:r>
            <a:endParaRPr lang="zh-CN" altLang="en-US" sz="3600" b="1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7380605" y="448310"/>
            <a:ext cx="497205" cy="873125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440930" y="597535"/>
            <a:ext cx="382270" cy="57975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决斗</a:t>
            </a:r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7682230" y="448310"/>
            <a:ext cx="497205" cy="873125"/>
          </a:xfrm>
          <a:prstGeom prst="rect">
            <a:avLst/>
          </a:prstGeom>
          <a:solidFill>
            <a:srgbClr val="FDC51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7742555" y="597535"/>
            <a:ext cx="382270" cy="57975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219690" y="4295140"/>
            <a:ext cx="174625" cy="187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200005" y="4501515"/>
            <a:ext cx="180975" cy="1943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0853420" y="3538855"/>
            <a:ext cx="878840" cy="50419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0872470" y="3716020"/>
            <a:ext cx="878840" cy="50419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0872470" y="3851910"/>
            <a:ext cx="878840" cy="50419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10872470" y="4078605"/>
            <a:ext cx="878840" cy="50419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流程图: 决策 70"/>
          <p:cNvSpPr/>
          <p:nvPr/>
        </p:nvSpPr>
        <p:spPr>
          <a:xfrm rot="5400000">
            <a:off x="1268095" y="3335655"/>
            <a:ext cx="1047115" cy="419100"/>
          </a:xfrm>
          <a:prstGeom prst="flowChartDecision">
            <a:avLst/>
          </a:prstGeom>
          <a:solidFill>
            <a:schemeClr val="tx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 rot="5400000">
            <a:off x="1330960" y="3478530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2">
                    <a:lumMod val="75000"/>
                  </a:schemeClr>
                </a:solidFill>
              </a:rPr>
              <a:t>行动中</a:t>
            </a:r>
            <a:endParaRPr lang="zh-CN" altLang="en-US" sz="14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6" name="直接箭头连接符 75"/>
          <p:cNvCxnSpPr>
            <a:endCxn id="21" idx="1"/>
          </p:cNvCxnSpPr>
          <p:nvPr/>
        </p:nvCxnSpPr>
        <p:spPr>
          <a:xfrm flipV="1">
            <a:off x="1823720" y="1522095"/>
            <a:ext cx="3164205" cy="3005455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589280" y="2614295"/>
            <a:ext cx="1008380" cy="44577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679450" y="2653665"/>
            <a:ext cx="66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安抚</a:t>
            </a:r>
            <a:endParaRPr lang="zh-CN" altLang="en-US"/>
          </a:p>
        </p:txBody>
      </p:sp>
      <p:cxnSp>
        <p:nvCxnSpPr>
          <p:cNvPr id="79" name="直接箭头连接符 78"/>
          <p:cNvCxnSpPr/>
          <p:nvPr/>
        </p:nvCxnSpPr>
        <p:spPr>
          <a:xfrm>
            <a:off x="1835150" y="4592320"/>
            <a:ext cx="2339975" cy="361950"/>
          </a:xfrm>
          <a:prstGeom prst="straightConnector1">
            <a:avLst/>
          </a:prstGeom>
          <a:ln w="508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589915" y="2378710"/>
            <a:ext cx="1025525" cy="48133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776605" y="243332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5422900" y="5620385"/>
            <a:ext cx="459105" cy="898525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5400040" y="5781675"/>
            <a:ext cx="459740" cy="5607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闪避</a:t>
            </a:r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589915" y="2505710"/>
            <a:ext cx="1025525" cy="48133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776605" y="2560320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5422900" y="5747385"/>
            <a:ext cx="459105" cy="898525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5400040" y="5908675"/>
            <a:ext cx="459740" cy="5607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/>
              <a:t>闪避</a:t>
            </a:r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589915" y="2599055"/>
            <a:ext cx="1025525" cy="481330"/>
          </a:xfrm>
          <a:prstGeom prst="rect">
            <a:avLst/>
          </a:prstGeom>
          <a:solidFill>
            <a:srgbClr val="FDC51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776605" y="265366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枪击</a:t>
            </a:r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839470" y="423672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重击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35930" y="5023485"/>
            <a:ext cx="180975" cy="1943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5307965" y="5020310"/>
            <a:ext cx="180975" cy="1943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71146 -0.0962037 " pathEditMode="relative" ptsTypes="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71146 -0.0962037 " pathEditMode="relative" ptsTypes="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3177 -0.121574 " pathEditMode="relative" ptsTypes="">
                                      <p:cBhvr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3177 -0.121574 " pathEditMode="relative" ptsTypes="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3177 -0.121574 " pathEditMode="relative" ptsTypes="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3177 -0.121574 " pathEditMode="relative" ptsTypes="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313 0.333704 " pathEditMode="relative" ptsTypes="">
                                      <p:cBhvr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313 0.333704 " pathEditMode="relative" ptsTypes="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349 0.326111 " pathEditMode="relative" ptsTypes="">
                                      <p:cBhvr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349 0.326111 " pathEditMode="relative" ptsTypes="">
                                      <p:cBhvr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1198 -0.0999074 " pathEditMode="relative" ptsTypes="">
                                      <p:cBhvr>
                                        <p:cTn id="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1198 -0.0999074 " pathEditMode="relative" ptsTypes="">
                                      <p:cBhvr>
                                        <p:cTn id="9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1198 -0.0999074 " pathEditMode="relative" ptsTypes="">
                                      <p:cBhvr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1198 -0.0999074 " pathEditMode="relative" ptsTypes="">
                                      <p:cBhvr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313 0.333704 " pathEditMode="relative" ptsTypes="">
                                      <p:cBhvr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70313 0.333704 " pathEditMode="relative" ptsTypes="">
                                      <p:cBhvr>
                                        <p:cTn id="1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349 0.326111 " pathEditMode="relative" ptsTypes="">
                                      <p:cBhvr>
                                        <p:cTn id="1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349 0.326111 " pathEditMode="relative" ptsTypes="">
                                      <p:cBhvr>
                                        <p:cTn id="1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5729 0.0762963 " pathEditMode="relative" ptsTypes="">
                                      <p:cBhvr>
                                        <p:cTn id="15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5729 0.0762963 " pathEditMode="relative" ptsTypes="">
                                      <p:cBhvr>
                                        <p:cTn id="1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17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1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65104 -0.293148 " pathEditMode="relative" ptsTypes="">
                                      <p:cBhvr>
                                        <p:cTn id="1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65104 -0.293148 " pathEditMode="relative" ptsTypes="">
                                      <p:cBhvr>
                                        <p:cTn id="18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19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19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65104 -0.293148 " pathEditMode="relative" ptsTypes="">
                                      <p:cBhvr>
                                        <p:cTn id="20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65104 -0.293148 " pathEditMode="relative" ptsTypes="">
                                      <p:cBhvr>
                                        <p:cTn id="2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21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4167 0.0839815 " pathEditMode="relative" ptsTypes="">
                                      <p:cBhvr>
                                        <p:cTn id="2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3" dur="1000" fill="hold"/>
                                        <p:tgtEl>
                                          <p:spTgt spid="90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1" animBg="1"/>
      <p:bldP spid="42" grpId="1"/>
      <p:bldP spid="43" grpId="1" animBg="1"/>
      <p:bldP spid="44" grpId="1"/>
      <p:bldP spid="26" grpId="0" animBg="1"/>
      <p:bldP spid="27" grpId="0"/>
      <p:bldP spid="34" grpId="0" bldLvl="0" animBg="1"/>
      <p:bldP spid="34" grpId="1" animBg="1"/>
      <p:bldP spid="58" grpId="0"/>
      <p:bldP spid="40" grpId="0" animBg="1"/>
      <p:bldP spid="59" grpId="0"/>
      <p:bldP spid="53" grpId="0" animBg="1"/>
      <p:bldP spid="55" grpId="0"/>
      <p:bldP spid="54" grpId="0" animBg="1"/>
      <p:bldP spid="61" grpId="0"/>
      <p:bldP spid="60" grpId="0" bldLvl="0" animBg="1"/>
      <p:bldP spid="27" grpId="1"/>
      <p:bldP spid="26" grpId="1" animBg="1"/>
      <p:bldP spid="58" grpId="1"/>
      <p:bldP spid="40" grpId="1" animBg="1"/>
      <p:bldP spid="59" grpId="1"/>
      <p:bldP spid="53" grpId="1" animBg="1"/>
      <p:bldP spid="2" grpId="0" bldLvl="0" animBg="1"/>
      <p:bldP spid="3" grpId="0"/>
      <p:bldP spid="2" grpId="1" animBg="1"/>
      <p:bldP spid="3" grpId="1"/>
      <p:bldP spid="39" grpId="0" bldLvl="0" animBg="1"/>
      <p:bldP spid="45" grpId="0"/>
      <p:bldP spid="39" grpId="1" animBg="1"/>
      <p:bldP spid="45" grpId="1"/>
      <p:bldP spid="35" grpId="0" bldLvl="0" animBg="1"/>
      <p:bldP spid="36" grpId="0"/>
      <p:bldP spid="35" grpId="1" animBg="1"/>
      <p:bldP spid="36" grpId="1"/>
      <p:bldP spid="37" grpId="0" bldLvl="0" animBg="1"/>
      <p:bldP spid="38" grpId="0"/>
      <p:bldP spid="37" grpId="1" animBg="1"/>
      <p:bldP spid="38" grpId="1"/>
      <p:bldP spid="50" grpId="0"/>
      <p:bldP spid="47" grpId="0" animBg="1"/>
      <p:bldP spid="50" grpId="1"/>
      <p:bldP spid="47" grpId="1" animBg="1"/>
      <p:bldP spid="47" grpId="2" animBg="1"/>
      <p:bldP spid="50" grpId="2"/>
      <p:bldP spid="51" grpId="0" animBg="1"/>
      <p:bldP spid="52" grpId="0"/>
      <p:bldP spid="52" grpId="1"/>
      <p:bldP spid="51" grpId="1" animBg="1"/>
      <p:bldP spid="56" grpId="0"/>
      <p:bldP spid="56" grpId="1"/>
      <p:bldP spid="56" grpId="2"/>
      <p:bldP spid="62" grpId="0"/>
      <p:bldP spid="57" grpId="0" bldLvl="0" animBg="1"/>
      <p:bldP spid="62" grpId="1"/>
      <p:bldP spid="57" grpId="1" animBg="1"/>
      <p:bldP spid="57" grpId="2" bldLvl="0" animBg="1"/>
      <p:bldP spid="62" grpId="2"/>
      <p:bldP spid="63" grpId="0" bldLvl="0" animBg="1"/>
      <p:bldP spid="64" grpId="0"/>
      <p:bldP spid="64" grpId="1"/>
      <p:bldP spid="63" grpId="1" bldLvl="0" animBg="1"/>
      <p:bldP spid="65" grpId="0" bldLvl="0" animBg="1"/>
      <p:bldP spid="66" grpId="0" bldLvl="0" animBg="1"/>
      <p:bldP spid="70" grpId="0" animBg="1"/>
      <p:bldP spid="69" grpId="0" animBg="1"/>
      <p:bldP spid="68" grpId="0" animBg="1"/>
      <p:bldP spid="67" grpId="0" animBg="1"/>
      <p:bldP spid="70" grpId="1" animBg="1"/>
      <p:bldP spid="69" grpId="1" animBg="1"/>
      <p:bldP spid="68" grpId="1" animBg="1"/>
      <p:bldP spid="67" grpId="1" animBg="1"/>
      <p:bldP spid="60" grpId="1" animBg="1"/>
      <p:bldP spid="61" grpId="1"/>
      <p:bldP spid="72" grpId="0"/>
      <p:bldP spid="71" grpId="0" bldLvl="0" animBg="1"/>
      <p:bldP spid="77" grpId="0" animBg="1"/>
      <p:bldP spid="78" grpId="0"/>
      <p:bldP spid="77" grpId="1" animBg="1"/>
      <p:bldP spid="78" grpId="1"/>
      <p:bldP spid="34" grpId="2" animBg="1"/>
      <p:bldP spid="81" grpId="0"/>
      <p:bldP spid="80" grpId="0" animBg="1"/>
      <p:bldP spid="83" grpId="0"/>
      <p:bldP spid="82" grpId="0" animBg="1"/>
      <p:bldP spid="85" grpId="0"/>
      <p:bldP spid="84" grpId="0" bldLvl="0" animBg="1"/>
      <p:bldP spid="87" grpId="0"/>
      <p:bldP spid="86" grpId="0" bldLvl="0" animBg="1"/>
      <p:bldP spid="89" grpId="0"/>
      <p:bldP spid="88" grpId="0" bldLvl="0" animBg="1"/>
      <p:bldP spid="81" grpId="1"/>
      <p:bldP spid="80" grpId="1" animBg="1"/>
      <p:bldP spid="83" grpId="1"/>
      <p:bldP spid="82" grpId="1" animBg="1"/>
      <p:bldP spid="85" grpId="1"/>
      <p:bldP spid="84" grpId="1" animBg="1"/>
      <p:bldP spid="87" grpId="1"/>
      <p:bldP spid="86" grpId="1" animBg="1"/>
      <p:bldP spid="88" grpId="1" animBg="1"/>
      <p:bldP spid="89" grpId="1"/>
      <p:bldP spid="90" grpId="0"/>
      <p:bldP spid="90" grpId="1"/>
      <p:bldP spid="90" grpId="2"/>
      <p:bldP spid="91" grpId="0" bldLvl="0" animBg="1"/>
      <p:bldP spid="93" grpId="0" bldLvl="0" animBg="1"/>
    </p:bldLst>
  </p:timing>
</p:sld>
</file>

<file path=ppt/tags/tag1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5"/>
  <p:tag name="KSO_WM_UNIT_LAYERLEVEL" val="1"/>
  <p:tag name="KSO_WM_UNIT_ID" val="custom40494635_1*f*2"/>
  <p:tag name="KSO_WM_TAG_VERSION" val="3.0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5"/>
  <p:tag name="KSO_WM_SLIDE_ID" val="custom40494635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3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4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5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6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7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8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9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0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1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2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3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4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5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6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7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8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19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0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1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2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3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4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5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6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7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8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29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30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31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32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ags/tag33.xml><?xml version="1.0" encoding="utf-8"?>
<p:tagLst xmlns:p="http://schemas.openxmlformats.org/presentationml/2006/main">
  <p:tag name="KSO_WM_DIAGRAM_VIRTUALLY_FRAME" val="{&quot;height&quot;:429.8,&quot;left&quot;:43.6,&quot;top&quot;:101.1,&quot;width&quot;:656.7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WPS 演示</Application>
  <PresentationFormat>宽屏</PresentationFormat>
  <Paragraphs>237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楷体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东东</dc:creator>
  <cp:lastModifiedBy>董锐麟</cp:lastModifiedBy>
  <cp:revision>34</cp:revision>
  <dcterms:created xsi:type="dcterms:W3CDTF">2023-08-09T12:44:00Z</dcterms:created>
  <dcterms:modified xsi:type="dcterms:W3CDTF">2026-05-19T03:39:44Z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1831DAA64BD94D64964593D51088339D_13</vt:lpwstr>
  </property>
</Properties>
</file>